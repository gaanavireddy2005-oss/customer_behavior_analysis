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5.png"/><Relationship Id="rId8" Type="http://schemas.openxmlformats.org/officeDocument/2006/relationships/image" Target="../media/image-5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84388"/>
            <a:ext cx="3130273" cy="287139"/>
          </a:xfrm>
          <a:prstGeom prst="roundRect">
            <a:avLst>
              <a:gd name="adj" fmla="val 7899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141041"/>
            <a:ext cx="351305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ANALYTICS PORTFOLIO PROJECT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471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2124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End-to-End Analysis using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Python, PostgreSQL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3,900 transaction records analyzed for actionable retail insights.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185940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74655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47119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Prepared by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Ganavi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B.E. Data Science, RNS Institute of Technology, Bengaluru · September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7291"/>
            <a:ext cx="1910905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03945"/>
            <a:ext cx="229368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00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at a Glance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841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complete data analyst workflow applied to a retail dataset — from raw data ingestion through cleaning, EDA, SQL analysis, and a business-ready Power BI dashboard.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696071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3,900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61475" y="355600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964682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records analyzed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3915" y="2696071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18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213915" y="355600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Columns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13915" y="3964682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Original dataset attributes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739580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$59.76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61475" y="559950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Avg Purchase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600819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transaction value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3915" y="4739580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3.75</a:t>
            </a:r>
            <a:endParaRPr lang="en-US" sz="4900" dirty="0"/>
          </a:p>
        </p:txBody>
      </p:sp>
      <p:sp>
        <p:nvSpPr>
          <p:cNvPr id="16" name="Text 14"/>
          <p:cNvSpPr/>
          <p:nvPr/>
        </p:nvSpPr>
        <p:spPr>
          <a:xfrm>
            <a:off x="6213915" y="559950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Avg Rating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213915" y="600819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product review score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08038"/>
            <a:ext cx="114862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664692"/>
            <a:ext cx="153140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707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This Project Aims to Do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44899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0177" y="2844899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Clean &amp; Preprocess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370177" y="3253581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Python and Pandas to ensure data quality and consistency before analysis.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844899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2617" y="2844899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Store &amp; Query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922617" y="3253581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Persist cleaned data into PostgreSQL for structured, repeatable SQL analysis.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36442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0177" y="4236442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Analyze &amp; Segment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370177" y="4645124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Answer 10 business questions using SQL aggregations, CTEs, and window functions.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236442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22617" y="4236442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Visualize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922617" y="4645124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 an interactive Power BI dashboard for self-service, filter-driven exploration.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48220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54450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TOOLS &amp; TECHNOLOGIES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The Analytics Pipeline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55242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End-to-End Workflow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747294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tool plays a distinct role — from raw CSV to interactive dashboard — reflecting how professional data analysts work in real business environments.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3208"/>
            <a:ext cx="91328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39862"/>
            <a:ext cx="12960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459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Overview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090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493367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 rows × 18 columns — each row is a single customer transaction spanning 50 locations, 25 products, and 4 categories.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0090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Summary Stats</a:t>
            </a:r>
            <a:endParaRPr lang="en-US" sz="1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7377" y="2491581"/>
            <a:ext cx="2509179" cy="6556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72582" y="2516981"/>
            <a:ext cx="22439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Purchase: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$59.76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7391" y="2491581"/>
            <a:ext cx="2509179" cy="6556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92596" y="2516981"/>
            <a:ext cx="224397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Rating: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3.75 / 5.0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7377" y="3474442"/>
            <a:ext cx="2509179" cy="9580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72582" y="3499842"/>
            <a:ext cx="22439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 Range: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18–70 years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7391" y="3474442"/>
            <a:ext cx="2509179" cy="9580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92596" y="3499842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Categories: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Clothing, Footwear, Outerwear, Accessories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61475" y="4832350"/>
            <a:ext cx="3496877" cy="1442343"/>
          </a:xfrm>
          <a:prstGeom prst="roundRect">
            <a:avLst>
              <a:gd name="adj" fmla="val 1966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75881" y="5046762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Demographics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75881" y="5455444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Age, Gender, Location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4347359" y="4832350"/>
            <a:ext cx="3496877" cy="1442343"/>
          </a:xfrm>
          <a:prstGeom prst="roundRect">
            <a:avLst>
              <a:gd name="adj" fmla="val 1966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561766" y="5046762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Transaction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4561766" y="5455444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Purchase Amount, Category, Shipping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8033244" y="4832350"/>
            <a:ext cx="3496877" cy="1442343"/>
          </a:xfrm>
          <a:prstGeom prst="roundRect">
            <a:avLst>
              <a:gd name="adj" fmla="val 1966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47650" y="5046762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Behavior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8247650" y="5455444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Subscription, Previous Purchases, Frequency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7333"/>
            <a:ext cx="914079" cy="183952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4101" y="603647"/>
            <a:ext cx="1378412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82241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Preparation Workflow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76846"/>
            <a:ext cx="10868745" cy="4767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55303" y="4273924"/>
            <a:ext cx="1642671" cy="29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Clean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955303" y="4651717"/>
            <a:ext cx="1642671" cy="96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Impute ratings by category median, standardize names, drop promo_code_used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73680" y="4172777"/>
            <a:ext cx="1642670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Load to PostgreSQL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73680" y="4844699"/>
            <a:ext cx="1642670" cy="771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Write cleaned DataFrame to customer table via SQLAlchemy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03632" y="1705359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Import &amp; Inspect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403632" y="2377281"/>
            <a:ext cx="1642671" cy="771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 CSV, df.info(), df.describe(), 37 missing ratings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01093" y="1705359"/>
            <a:ext cx="1642670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 Engineer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601093" y="2377281"/>
            <a:ext cx="1642670" cy="771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 age_group via quartiles, map purchase frequency to days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131818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step follows professional EDA practice — inspection guides cleaning decisions, feature engineering enables segmentation, and loading into PostgreSQL supports repeatable, auditable SQL analysis.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6843"/>
            <a:ext cx="1979761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73497"/>
            <a:ext cx="236253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ANALYSIS — PART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795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Revenue &amp; Customer Insights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6330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0427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Findings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2560042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2550616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Gender Revenue Gap: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Male customers generate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2.1x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the revenue of females ($157,890 vs $75,191).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3616" y="3542903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7024" y="3533477"/>
            <a:ext cx="45895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Discount Paradox: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839 customers (~22%) used a discount yet spent above the $59.76 average — discount usage ≠ low-value customer.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3616" y="4828183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47024" y="4818757"/>
            <a:ext cx="458954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Subscription Impact: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Subscribers and non-subscribers have nearly identical average spend (~$59–60); non-subscribers simply outnumber subscribers 3:1.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0998"/>
            <a:ext cx="1623773" cy="233263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3548" y="567035"/>
            <a:ext cx="2049213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ANALYSIS — PART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04168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Products, Shipping &amp; Segmentation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11511"/>
            <a:ext cx="5247052" cy="37768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9518" y="1595934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Top-Rated Products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89518" y="1960562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five score above 3.78/5 — strong candidates for promotional prioritization.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89518" y="2530574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Other Key Findings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5649913"/>
            <a:ext cx="3537953" cy="7060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3061" y="5668963"/>
            <a:ext cx="3327317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Shipping: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Express customers spend marginally more ($60.48 vs $58.46) — not a primary revenue lever.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7297" y="5649913"/>
            <a:ext cx="3537953" cy="7060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27933" y="5668963"/>
            <a:ext cx="3327317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Discount Rates: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Hats, Coats, Sneakers see ~48–50% discount usage — may be compressing margins.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2168" y="5649913"/>
            <a:ext cx="3537953" cy="7060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02804" y="5668963"/>
            <a:ext cx="332731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Customer Segments: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80% are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Loyal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(&gt;10 purchases), 18% Returning, only 2% New.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7630"/>
            <a:ext cx="1967855" cy="282674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3093" y="623391"/>
            <a:ext cx="2354204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ANALYSIS — PART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2352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Age Groups, Loyalty &amp; Subscriptions</a:t>
            </a:r>
            <a:endParaRPr lang="en-US" sz="3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85665"/>
            <a:ext cx="5207465" cy="3748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9105" y="1962845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Age Group Revenue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29105" y="2436713"/>
            <a:ext cx="52074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is fairly evenly distributed. Young Adults lead marginally at $62,143 — broad, age-inclusive marketing is recommended.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29105" y="3505696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Loyalty ≠ Subscription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29105" y="3979565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Among repeat buyers (&gt;5 purchases),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72% are still non-subscribers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a clear conversion opportunity.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29105" y="4776093"/>
            <a:ext cx="5207465" cy="1308298"/>
          </a:xfrm>
          <a:prstGeom prst="roundRect">
            <a:avLst>
              <a:gd name="adj" fmla="val 2133"/>
            </a:avLst>
          </a:prstGeom>
          <a:solidFill>
            <a:srgbClr val="ECE6D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35" y="5039717"/>
            <a:ext cx="232563" cy="1860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33729" y="4987330"/>
            <a:ext cx="441681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products by category: Jewelry (Accessories), Blouse/Pants (Clothing), Sandals (Footwear), Jacket (Outerwear).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935"/>
            <a:ext cx="2251118" cy="273645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521" y="582910"/>
            <a:ext cx="2644610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&amp;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7124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Power BI Dashboard &amp; Key Takeaways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31700" y="1691878"/>
            <a:ext cx="5474158" cy="4637187"/>
          </a:xfrm>
          <a:prstGeom prst="roundRect">
            <a:avLst>
              <a:gd name="adj" fmla="val 583"/>
            </a:avLst>
          </a:prstGeom>
          <a:solidFill>
            <a:srgbClr val="D3C5B6"/>
          </a:solidFill>
          <a:ln/>
        </p:spPr>
      </p:sp>
      <p:sp>
        <p:nvSpPr>
          <p:cNvPr id="6" name="Text 4"/>
          <p:cNvSpPr/>
          <p:nvPr/>
        </p:nvSpPr>
        <p:spPr>
          <a:xfrm>
            <a:off x="711778" y="1863527"/>
            <a:ext cx="51140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Dashboard Highlights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11778" y="2316659"/>
            <a:ext cx="511400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KPIs: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3.9K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customers ·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$59.76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purchase ·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3.75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rating. Filters: subscription, gender, category, shipping type. Only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27%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are subscribers. Clothing leads revenue by category.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961" y="1863527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Actionable Insights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321961" y="2338189"/>
            <a:ext cx="405298" cy="405309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6389478" y="2371923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98904" y="2396728"/>
            <a:ext cx="463766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male customers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revenue growth; investigate female segment gap.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1961" y="3303091"/>
            <a:ext cx="405298" cy="405309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6389478" y="3336826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98904" y="3361630"/>
            <a:ext cx="463766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Launch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subscription conversion campaign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aimed at loyal, non-subscribed repeat buyers (72% of repeat buyers).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21961" y="4549477"/>
            <a:ext cx="405298" cy="405309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6" name="Text 14"/>
          <p:cNvSpPr/>
          <p:nvPr/>
        </p:nvSpPr>
        <p:spPr>
          <a:xfrm>
            <a:off x="6389478" y="4583212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98904" y="4608016"/>
            <a:ext cx="463766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high-rated products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(Gloves, Jewelry, Blouse) for promotions and inventory.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1961" y="5514380"/>
            <a:ext cx="405298" cy="405309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9" name="Text 17"/>
          <p:cNvSpPr/>
          <p:nvPr/>
        </p:nvSpPr>
        <p:spPr>
          <a:xfrm>
            <a:off x="6389478" y="554811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98904" y="5572919"/>
            <a:ext cx="463766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discount policy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on Hats, Coats, Sneakers where ~50% of purchases use discounts.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2026-09-19T08:17:41Z</dcterms:created>
  <dcterms:modified xsi:type="dcterms:W3CDTF">2026-09-19T08:17:41Z</dcterms:modified>
</cp:coreProperties>
</file>